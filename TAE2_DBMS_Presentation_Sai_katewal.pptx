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24-Sep-26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24-Sep-26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24-Sep-26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24-Sep-26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24-Sep-26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24-Sep-26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24-Sep-26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8071184" cy="523220"/>
          </a:xfrm>
          <a:prstGeom prst="rect">
            <a:avLst/>
          </a:prstGeom>
          <a:noFill/>
        </p:spPr>
        <p:txBody>
          <a:bodyPr wrap="none">
            <a:spAutoFit/>
          </a:bodyPr>
          <a:lstStyle/>
          <a:p>
            <a:pPr>
              <a:defRPr sz="2800" b="1">
                <a:latin typeface="Aptos Display"/>
              </a:defRPr>
            </a:pPr>
            <a:r>
              <a:rPr lang="en-US" dirty="0"/>
              <a:t>Bookstore Database Management System </a:t>
            </a:r>
            <a:r>
              <a:rPr dirty="0"/>
              <a:t>Database</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607040" cy="1420902"/>
          </a:xfrm>
          <a:prstGeom prst="rect">
            <a:avLst/>
          </a:prstGeom>
          <a:noFill/>
        </p:spPr>
        <p:txBody>
          <a:bodyPr wrap="square">
            <a:spAutoFit/>
          </a:bodyPr>
          <a:lstStyle/>
          <a:p>
            <a:pPr>
              <a:spcAft>
                <a:spcPts val="1400"/>
              </a:spcAft>
              <a:defRPr sz="2100">
                <a:latin typeface="Aptos"/>
              </a:defRPr>
            </a:pPr>
            <a:r>
              <a:rPr dirty="0"/>
              <a:t>TAE 2 – DBMS Project Implementation &amp; Presentation</a:t>
            </a:r>
          </a:p>
          <a:p>
            <a:pPr>
              <a:spcAft>
                <a:spcPts val="1400"/>
              </a:spcAft>
              <a:defRPr sz="2100">
                <a:latin typeface="Aptos"/>
              </a:defRPr>
            </a:pPr>
            <a:r>
              <a:rPr lang="en-US" dirty="0"/>
              <a:t>Name - Sai Katewal </a:t>
            </a:r>
            <a:r>
              <a:rPr dirty="0"/>
              <a:t>| Roll No. </a:t>
            </a:r>
            <a:r>
              <a:rPr lang="en-US" dirty="0"/>
              <a:t>46</a:t>
            </a:r>
            <a:r>
              <a:rPr dirty="0"/>
              <a:t> | </a:t>
            </a:r>
            <a:r>
              <a:rPr lang="en-US" dirty="0"/>
              <a:t>ROLL_NO</a:t>
            </a:r>
            <a:r>
              <a:rPr dirty="0"/>
              <a:t>: 24ACDS11</a:t>
            </a:r>
            <a:r>
              <a:rPr lang="en-US" dirty="0"/>
              <a:t>01006</a:t>
            </a:r>
            <a:r>
              <a:rPr dirty="0"/>
              <a:t>| Section P</a:t>
            </a:r>
          </a:p>
          <a:p>
            <a:pPr>
              <a:spcAft>
                <a:spcPts val="1400"/>
              </a:spcAft>
              <a:defRPr sz="2100">
                <a:latin typeface="Aptos"/>
              </a:defRPr>
            </a:pPr>
            <a:r>
              <a:rPr dirty="0"/>
              <a:t>Target RDBMS: MySQL</a:t>
            </a:r>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2800" b="1">
                <a:latin typeface="Aptos Display"/>
              </a:defRPr>
            </a:pPr>
            <a:r>
              <a:t>1. Domain Overview &amp; TAE 1 Recall</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607040" cy="2569934"/>
          </a:xfrm>
          <a:prstGeom prst="rect">
            <a:avLst/>
          </a:prstGeom>
          <a:noFill/>
        </p:spPr>
        <p:txBody>
          <a:bodyPr wrap="square">
            <a:spAutoFit/>
          </a:bodyPr>
          <a:lstStyle/>
          <a:p>
            <a:pPr>
              <a:spcAft>
                <a:spcPts val="1400"/>
              </a:spcAft>
              <a:defRPr sz="2100">
                <a:latin typeface="Aptos"/>
              </a:defRPr>
            </a:pPr>
            <a:r>
              <a:rPr dirty="0"/>
              <a:t>Domain</a:t>
            </a:r>
            <a:r>
              <a:rPr lang="en-US" dirty="0"/>
              <a:t> </a:t>
            </a:r>
            <a:r>
              <a:rPr dirty="0"/>
              <a:t>:</a:t>
            </a:r>
            <a:r>
              <a:rPr lang="en-US" dirty="0"/>
              <a:t> Bookstore Database Management System </a:t>
            </a:r>
          </a:p>
          <a:p>
            <a:pPr>
              <a:spcAft>
                <a:spcPts val="1400"/>
              </a:spcAft>
              <a:defRPr sz="2100">
                <a:latin typeface="Aptos"/>
              </a:defRPr>
            </a:pPr>
            <a:r>
              <a:rPr dirty="0"/>
              <a:t>Purpose: </a:t>
            </a:r>
            <a:r>
              <a:rPr lang="en-US" dirty="0"/>
              <a:t>Bookstore Management System using a relational database to efficiently manage books, customers, and orders. </a:t>
            </a:r>
          </a:p>
          <a:p>
            <a:pPr>
              <a:spcAft>
                <a:spcPts val="1400"/>
              </a:spcAft>
              <a:defRPr sz="2100">
                <a:latin typeface="Aptos"/>
              </a:defRPr>
            </a:pPr>
            <a:r>
              <a:rPr dirty="0"/>
              <a:t>Main entities:</a:t>
            </a:r>
            <a:r>
              <a:rPr lang="en-US" dirty="0"/>
              <a:t>  </a:t>
            </a:r>
            <a:r>
              <a:rPr lang="en-US" dirty="0" err="1"/>
              <a:t>book_id</a:t>
            </a:r>
            <a:r>
              <a:rPr lang="en-US" dirty="0"/>
              <a:t> , </a:t>
            </a:r>
            <a:r>
              <a:rPr lang="en-US" dirty="0" err="1"/>
              <a:t>customers_id</a:t>
            </a:r>
            <a:r>
              <a:rPr lang="en-US" dirty="0"/>
              <a:t> , author , </a:t>
            </a:r>
            <a:r>
              <a:rPr lang="en-US" dirty="0" err="1"/>
              <a:t>genere</a:t>
            </a:r>
            <a:r>
              <a:rPr lang="en-US" dirty="0"/>
              <a:t> , </a:t>
            </a:r>
            <a:r>
              <a:rPr lang="en-US" dirty="0" err="1"/>
              <a:t>published_year</a:t>
            </a:r>
            <a:r>
              <a:rPr lang="en-US" dirty="0"/>
              <a:t> , price , stock ,</a:t>
            </a:r>
          </a:p>
          <a:p>
            <a:pPr>
              <a:spcAft>
                <a:spcPts val="1400"/>
              </a:spcAft>
              <a:defRPr sz="2100">
                <a:latin typeface="Aptos"/>
              </a:defRPr>
            </a:pPr>
            <a:r>
              <a:rPr lang="en-US" dirty="0"/>
              <a:t>Name, email, phone, city, country, </a:t>
            </a:r>
            <a:r>
              <a:rPr lang="en-US" dirty="0" err="1"/>
              <a:t>orders_id</a:t>
            </a:r>
            <a:r>
              <a:rPr lang="en-US" dirty="0"/>
              <a:t>, </a:t>
            </a:r>
            <a:r>
              <a:rPr lang="en-US" dirty="0" err="1"/>
              <a:t>customers_id</a:t>
            </a:r>
            <a:r>
              <a:rPr lang="en-US" dirty="0"/>
              <a:t>, </a:t>
            </a:r>
            <a:r>
              <a:rPr lang="en-US" dirty="0" err="1"/>
              <a:t>order_date</a:t>
            </a:r>
            <a:r>
              <a:rPr lang="en-US" dirty="0"/>
              <a:t>, Quantity, </a:t>
            </a:r>
            <a:r>
              <a:rPr lang="en-US" dirty="0" err="1"/>
              <a:t>Total_amount</a:t>
            </a:r>
            <a:r>
              <a:rPr lang="en-US" dirty="0"/>
              <a:t>.</a:t>
            </a:r>
            <a:endParaRPr dirty="0"/>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2</a:t>
            </a:r>
          </a:p>
        </p:txBody>
      </p:sp>
      <p:sp>
        <p:nvSpPr>
          <p:cNvPr id="6" name="Rectangle 1">
            <a:extLst>
              <a:ext uri="{FF2B5EF4-FFF2-40B4-BE49-F238E27FC236}">
                <a16:creationId xmlns:a16="http://schemas.microsoft.com/office/drawing/2014/main" id="{E6A661D6-5F23-2475-2EEC-F6D662FE327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book_id</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author</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genere</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published_year</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price</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stock</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1AB6052B-2060-B6FC-09E3-E3A32F230C0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book_id</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author</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genere</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published_year</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price</a:t>
            </a:r>
            <a:r>
              <a:rPr kumimoji="0" lang="en-US" altLang="en-US" sz="8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Unicode MS"/>
              </a:rPr>
              <a:t>stock</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2800" b="1">
                <a:latin typeface="Aptos Display"/>
              </a:defRPr>
            </a:pPr>
            <a:r>
              <a:t>2. Problem Statement</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607040" cy="3108543"/>
          </a:xfrm>
          <a:prstGeom prst="rect">
            <a:avLst/>
          </a:prstGeom>
          <a:noFill/>
        </p:spPr>
        <p:txBody>
          <a:bodyPr wrap="square">
            <a:spAutoFit/>
          </a:bodyPr>
          <a:lstStyle/>
          <a:p>
            <a:pPr>
              <a:spcAft>
                <a:spcPts val="1400"/>
              </a:spcAft>
              <a:defRPr sz="2100">
                <a:latin typeface="Aptos"/>
              </a:defRPr>
            </a:pPr>
            <a:r>
              <a:rPr lang="en-US" sz="2800" dirty="0"/>
              <a:t>Managing bookstore information manually can make it difficult to efficiently maintain book, customer, and order records. It can also make it challenging to track customer purchases, monitor book sales, and retrieve meaningful information from the stored data. The proposed Bookstore Management System uses a relational database to organize Book, Customer, and Order information and provide efficient data management and retrieval through SQL.</a:t>
            </a:r>
            <a:endParaRPr sz="2800" dirty="0"/>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2800" b="1">
                <a:latin typeface="Aptos Display"/>
              </a:defRPr>
            </a:pPr>
            <a:r>
              <a:rPr dirty="0"/>
              <a:t>3. System Requirements &amp; Operations</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2312" y="1417320"/>
            <a:ext cx="10607040" cy="3252172"/>
          </a:xfrm>
          <a:prstGeom prst="rect">
            <a:avLst/>
          </a:prstGeom>
          <a:noFill/>
        </p:spPr>
        <p:txBody>
          <a:bodyPr wrap="square">
            <a:spAutoFit/>
          </a:bodyPr>
          <a:lstStyle/>
          <a:p>
            <a:pPr>
              <a:spcAft>
                <a:spcPts val="1400"/>
              </a:spcAft>
              <a:defRPr sz="2100">
                <a:latin typeface="Aptos"/>
              </a:defRPr>
            </a:pPr>
            <a:r>
              <a:rPr lang="en-US" b="1" dirty="0"/>
              <a:t>RDBMS:</a:t>
            </a:r>
            <a:r>
              <a:rPr lang="en-US" dirty="0"/>
              <a:t> Microsoft SQL Server</a:t>
            </a:r>
          </a:p>
          <a:p>
            <a:pPr>
              <a:spcAft>
                <a:spcPts val="1400"/>
              </a:spcAft>
              <a:defRPr sz="2100">
                <a:latin typeface="Aptos"/>
              </a:defRPr>
            </a:pPr>
            <a:r>
              <a:rPr lang="en-US" b="1" dirty="0"/>
              <a:t>Database Tool:</a:t>
            </a:r>
            <a:r>
              <a:rPr lang="en-US" dirty="0"/>
              <a:t> SQL Server Management Studio (SSMS)</a:t>
            </a:r>
          </a:p>
          <a:p>
            <a:pPr>
              <a:spcAft>
                <a:spcPts val="1400"/>
              </a:spcAft>
              <a:defRPr sz="2100">
                <a:latin typeface="Aptos"/>
              </a:defRPr>
            </a:pPr>
            <a:r>
              <a:rPr lang="en-US" b="1" dirty="0"/>
              <a:t>Database:</a:t>
            </a:r>
            <a:r>
              <a:rPr lang="en-US" dirty="0"/>
              <a:t> Bookstore Database</a:t>
            </a:r>
          </a:p>
          <a:p>
            <a:pPr>
              <a:spcAft>
                <a:spcPts val="1400"/>
              </a:spcAft>
              <a:defRPr sz="2100">
                <a:latin typeface="Aptos"/>
              </a:defRPr>
            </a:pPr>
            <a:r>
              <a:rPr lang="en-US" b="1" dirty="0"/>
              <a:t>Tables:</a:t>
            </a:r>
            <a:r>
              <a:rPr lang="en-US" dirty="0"/>
              <a:t> Book, Customers, Orders</a:t>
            </a:r>
          </a:p>
          <a:p>
            <a:pPr>
              <a:spcAft>
                <a:spcPts val="1400"/>
              </a:spcAft>
              <a:defRPr sz="2100">
                <a:latin typeface="Aptos"/>
              </a:defRPr>
            </a:pPr>
            <a:r>
              <a:rPr lang="en-US" b="1" dirty="0"/>
              <a:t>SQL:</a:t>
            </a:r>
            <a:r>
              <a:rPr lang="en-US" dirty="0"/>
              <a:t> DDL, DML, joins, aggregate functions, subqueries, stored procedures, triggers, and views</a:t>
            </a:r>
          </a:p>
          <a:p>
            <a:pPr>
              <a:spcAft>
                <a:spcPts val="1400"/>
              </a:spcAft>
              <a:defRPr sz="2100">
                <a:latin typeface="Aptos"/>
              </a:defRPr>
            </a:pPr>
            <a:r>
              <a:rPr lang="en-US" b="1" dirty="0"/>
              <a:t>Data:</a:t>
            </a:r>
            <a:r>
              <a:rPr lang="en-US" dirty="0"/>
              <a:t> Book, customer, and order records</a:t>
            </a:r>
            <a:endParaRPr dirty="0"/>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2800" b="1">
                <a:latin typeface="Aptos Display"/>
              </a:defRPr>
            </a:pPr>
            <a:r>
              <a:rPr dirty="0"/>
              <a:t>4. Database Entities &amp; Relationships</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607040" cy="3934410"/>
          </a:xfrm>
          <a:prstGeom prst="rect">
            <a:avLst/>
          </a:prstGeom>
          <a:noFill/>
        </p:spPr>
        <p:txBody>
          <a:bodyPr wrap="square">
            <a:spAutoFit/>
          </a:bodyPr>
          <a:lstStyle/>
          <a:p>
            <a:pPr>
              <a:spcAft>
                <a:spcPts val="1400"/>
              </a:spcAft>
              <a:defRPr sz="2100">
                <a:latin typeface="Aptos"/>
              </a:defRPr>
            </a:pPr>
            <a:r>
              <a:rPr lang="en-US" dirty="0"/>
              <a:t>          1) Book</a:t>
            </a:r>
          </a:p>
          <a:p>
            <a:pPr>
              <a:spcAft>
                <a:spcPts val="1400"/>
              </a:spcAft>
              <a:defRPr sz="2100">
                <a:latin typeface="Aptos"/>
              </a:defRPr>
            </a:pPr>
            <a:r>
              <a:rPr lang="en-US" dirty="0"/>
              <a:t>			Primary Key : </a:t>
            </a:r>
            <a:r>
              <a:rPr lang="en-US" dirty="0" err="1"/>
              <a:t>book_id</a:t>
            </a:r>
            <a:endParaRPr lang="en-US" dirty="0"/>
          </a:p>
          <a:p>
            <a:pPr lvl="1">
              <a:spcAft>
                <a:spcPts val="1400"/>
              </a:spcAft>
              <a:defRPr sz="2100">
                <a:latin typeface="Aptos"/>
              </a:defRPr>
            </a:pPr>
            <a:r>
              <a:rPr lang="en-US" dirty="0"/>
              <a:t>			Stores book details such as author, genre, published year, price, and stock</a:t>
            </a:r>
          </a:p>
          <a:p>
            <a:pPr lvl="1">
              <a:spcAft>
                <a:spcPts val="1400"/>
              </a:spcAft>
              <a:defRPr sz="2100">
                <a:latin typeface="Aptos"/>
              </a:defRPr>
            </a:pPr>
            <a:r>
              <a:rPr lang="en-US" dirty="0"/>
              <a:t>2)  Customer </a:t>
            </a:r>
          </a:p>
          <a:p>
            <a:pPr lvl="1">
              <a:spcAft>
                <a:spcPts val="1400"/>
              </a:spcAft>
              <a:defRPr sz="2100">
                <a:latin typeface="Aptos"/>
              </a:defRPr>
            </a:pPr>
            <a:r>
              <a:rPr lang="en-US" dirty="0"/>
              <a:t>		 Primary Key: </a:t>
            </a:r>
            <a:r>
              <a:rPr lang="en-US" dirty="0" err="1"/>
              <a:t>customers_id</a:t>
            </a:r>
            <a:endParaRPr lang="en-US" dirty="0"/>
          </a:p>
          <a:p>
            <a:pPr lvl="1">
              <a:spcAft>
                <a:spcPts val="1400"/>
              </a:spcAft>
              <a:defRPr sz="2100">
                <a:latin typeface="Aptos"/>
              </a:defRPr>
            </a:pPr>
            <a:r>
              <a:rPr lang="en-US" dirty="0"/>
              <a:t>3) Order</a:t>
            </a:r>
          </a:p>
          <a:p>
            <a:pPr lvl="1">
              <a:spcAft>
                <a:spcPts val="1400"/>
              </a:spcAft>
              <a:defRPr sz="2100">
                <a:latin typeface="Aptos"/>
              </a:defRPr>
            </a:pPr>
            <a:r>
              <a:rPr lang="en-US" dirty="0"/>
              <a:t>		 Primary Key : </a:t>
            </a:r>
            <a:r>
              <a:rPr lang="en-US" dirty="0" err="1"/>
              <a:t>orders_id</a:t>
            </a:r>
            <a:endParaRPr lang="en-US" dirty="0"/>
          </a:p>
          <a:p>
            <a:pPr lvl="1">
              <a:spcAft>
                <a:spcPts val="1400"/>
              </a:spcAft>
              <a:defRPr sz="2100">
                <a:latin typeface="Aptos"/>
              </a:defRPr>
            </a:pPr>
            <a:r>
              <a:rPr lang="en-US" dirty="0"/>
              <a:t>		 Foreign Keys: </a:t>
            </a:r>
            <a:r>
              <a:rPr lang="en-US" dirty="0" err="1"/>
              <a:t>book_id</a:t>
            </a:r>
            <a:r>
              <a:rPr lang="en-US" dirty="0"/>
              <a:t> , </a:t>
            </a:r>
            <a:r>
              <a:rPr lang="en-US" dirty="0" err="1"/>
              <a:t>customers_id</a:t>
            </a:r>
            <a:r>
              <a:rPr lang="en-US" dirty="0"/>
              <a:t> </a:t>
            </a:r>
            <a:endParaRPr dirty="0"/>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09600" y="228600"/>
            <a:ext cx="10972800" cy="731520"/>
          </a:xfrm>
          <a:prstGeom prst="rect">
            <a:avLst/>
          </a:prstGeom>
          <a:noFill/>
        </p:spPr>
        <p:txBody>
          <a:bodyPr wrap="none">
            <a:spAutoFit/>
          </a:bodyPr>
          <a:lstStyle/>
          <a:p>
            <a:pPr>
              <a:defRPr sz="2800" b="1">
                <a:latin typeface="Aptos Display"/>
              </a:defRPr>
            </a:pPr>
            <a:r>
              <a:rPr dirty="0"/>
              <a:t>5. </a:t>
            </a:r>
            <a:r>
              <a:rPr dirty="0" err="1"/>
              <a:t>Normalisation</a:t>
            </a:r>
            <a:r>
              <a:rPr dirty="0"/>
              <a:t> &amp; Integrity</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2480" y="1508760"/>
            <a:ext cx="10607040" cy="4754880"/>
          </a:xfrm>
          <a:prstGeom prst="rect">
            <a:avLst/>
          </a:prstGeom>
          <a:noFill/>
        </p:spPr>
        <p:txBody>
          <a:bodyPr wrap="square">
            <a:spAutoFit/>
          </a:bodyPr>
          <a:lstStyle/>
          <a:p>
            <a:pPr>
              <a:spcAft>
                <a:spcPts val="1400"/>
              </a:spcAft>
              <a:defRPr sz="1900">
                <a:latin typeface="Aptos"/>
              </a:defRPr>
            </a:pPr>
            <a:r>
              <a:rPr dirty="0"/>
              <a:t>Primary Keys uniquely identify records.</a:t>
            </a:r>
          </a:p>
          <a:p>
            <a:pPr>
              <a:spcAft>
                <a:spcPts val="1400"/>
              </a:spcAft>
              <a:defRPr sz="1900">
                <a:latin typeface="Aptos"/>
              </a:defRPr>
            </a:pPr>
            <a:r>
              <a:rPr dirty="0"/>
              <a:t>Foreign Keys maintain referential integrity.</a:t>
            </a:r>
          </a:p>
          <a:p>
            <a:pPr>
              <a:spcAft>
                <a:spcPts val="1400"/>
              </a:spcAft>
              <a:defRPr sz="1900">
                <a:latin typeface="Aptos"/>
              </a:defRPr>
            </a:pPr>
            <a:r>
              <a:rPr dirty="0"/>
              <a:t>NOT NULL protects mandatory fields.</a:t>
            </a:r>
          </a:p>
          <a:p>
            <a:pPr>
              <a:spcAft>
                <a:spcPts val="1400"/>
              </a:spcAft>
              <a:defRPr sz="1900">
                <a:latin typeface="Aptos"/>
              </a:defRPr>
            </a:pPr>
            <a:r>
              <a:rPr dirty="0"/>
              <a:t>UNIQUE is used for country ISO codes.</a:t>
            </a:r>
          </a:p>
          <a:p>
            <a:pPr>
              <a:spcAft>
                <a:spcPts val="1400"/>
              </a:spcAft>
              <a:defRPr sz="1900">
                <a:latin typeface="Aptos"/>
              </a:defRPr>
            </a:pPr>
            <a:r>
              <a:rPr dirty="0"/>
              <a:t>Normalization removes repeated region information and reduces duplicate data.</a:t>
            </a:r>
          </a:p>
          <a:p>
            <a:pPr>
              <a:spcAft>
                <a:spcPts val="1400"/>
              </a:spcAft>
              <a:defRPr sz="1900">
                <a:latin typeface="Aptos"/>
              </a:defRPr>
            </a:pPr>
            <a:r>
              <a:rPr dirty="0"/>
              <a:t>BCNF claim in TAE 1: non-key attributes depend only on the primary key; redundancy is minimized.</a:t>
            </a:r>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2800" b="1">
                <a:latin typeface="Aptos Display"/>
              </a:defRPr>
            </a:pPr>
            <a:r>
              <a:t>6. Target RDBMS &amp; Implementation</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607040" cy="1744067"/>
          </a:xfrm>
          <a:prstGeom prst="rect">
            <a:avLst/>
          </a:prstGeom>
          <a:noFill/>
        </p:spPr>
        <p:txBody>
          <a:bodyPr wrap="square">
            <a:spAutoFit/>
          </a:bodyPr>
          <a:lstStyle/>
          <a:p>
            <a:pPr>
              <a:spcAft>
                <a:spcPts val="1400"/>
              </a:spcAft>
              <a:defRPr sz="2100">
                <a:latin typeface="Aptos"/>
              </a:defRPr>
            </a:pPr>
            <a:r>
              <a:rPr dirty="0"/>
              <a:t>RDBMS: MySQL</a:t>
            </a:r>
          </a:p>
          <a:p>
            <a:pPr>
              <a:spcAft>
                <a:spcPts val="1400"/>
              </a:spcAft>
              <a:defRPr sz="2100">
                <a:latin typeface="Aptos"/>
              </a:defRPr>
            </a:pPr>
            <a:r>
              <a:rPr dirty="0"/>
              <a:t>MySQL was selected because it is open-source, easy to use, supports relational constraints, joins, views, stored procedures, triggers and indexing.</a:t>
            </a:r>
          </a:p>
          <a:p>
            <a:pPr>
              <a:spcAft>
                <a:spcPts val="1400"/>
              </a:spcAft>
              <a:defRPr sz="2100">
                <a:latin typeface="Aptos"/>
              </a:defRPr>
            </a:pPr>
            <a:r>
              <a:rPr dirty="0"/>
              <a:t>Tools compatible with the project include MySQL Workbench.</a:t>
            </a:r>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2800" b="1">
                <a:latin typeface="Aptos Display"/>
              </a:defRPr>
            </a:pPr>
            <a:r>
              <a:t>7. TAE 2 Implementation Plan</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607040" cy="2744341"/>
          </a:xfrm>
          <a:prstGeom prst="rect">
            <a:avLst/>
          </a:prstGeom>
          <a:noFill/>
        </p:spPr>
        <p:txBody>
          <a:bodyPr wrap="square">
            <a:spAutoFit/>
          </a:bodyPr>
          <a:lstStyle/>
          <a:p>
            <a:pPr>
              <a:spcAft>
                <a:spcPts val="1400"/>
              </a:spcAft>
              <a:defRPr sz="1900">
                <a:latin typeface="Aptos"/>
              </a:defRPr>
            </a:pPr>
            <a:r>
              <a:rPr dirty="0"/>
              <a:t>Schema: CREATE TABLE + PK/FK + NOT NULL + UNIQUE + CHECK + DEFAULT constraints.</a:t>
            </a:r>
          </a:p>
          <a:p>
            <a:pPr>
              <a:spcAft>
                <a:spcPts val="1400"/>
              </a:spcAft>
              <a:defRPr sz="1900">
                <a:latin typeface="Aptos"/>
              </a:defRPr>
            </a:pPr>
            <a:r>
              <a:rPr dirty="0"/>
              <a:t>Data: </a:t>
            </a:r>
            <a:r>
              <a:rPr lang="en-US" dirty="0"/>
              <a:t>200</a:t>
            </a:r>
            <a:r>
              <a:rPr dirty="0"/>
              <a:t>+ realistic records per core table.</a:t>
            </a:r>
          </a:p>
          <a:p>
            <a:pPr>
              <a:spcAft>
                <a:spcPts val="1400"/>
              </a:spcAft>
              <a:defRPr sz="1900">
                <a:latin typeface="Aptos"/>
              </a:defRPr>
            </a:pPr>
            <a:r>
              <a:rPr dirty="0"/>
              <a:t>Advanced SQL: multi-table joins, correlated subqueries, GROUP BY/HAVING.</a:t>
            </a:r>
          </a:p>
          <a:p>
            <a:pPr>
              <a:spcAft>
                <a:spcPts val="1400"/>
              </a:spcAft>
              <a:defRPr sz="1900">
                <a:latin typeface="Aptos"/>
              </a:defRPr>
            </a:pPr>
            <a:r>
              <a:rPr dirty="0"/>
              <a:t>Automation: stored procedure + trigger.</a:t>
            </a:r>
          </a:p>
          <a:p>
            <a:pPr>
              <a:spcAft>
                <a:spcPts val="1400"/>
              </a:spcAft>
              <a:defRPr sz="1900">
                <a:latin typeface="Aptos"/>
              </a:defRPr>
            </a:pPr>
            <a:r>
              <a:rPr dirty="0"/>
              <a:t>Reporting: at least 2 views.</a:t>
            </a:r>
          </a:p>
          <a:p>
            <a:pPr>
              <a:spcAft>
                <a:spcPts val="1400"/>
              </a:spcAft>
              <a:defRPr sz="1900">
                <a:latin typeface="Aptos"/>
              </a:defRPr>
            </a:pPr>
            <a:r>
              <a:rPr dirty="0"/>
              <a:t>Optimization: EXPLAIN before and after non-primary indexes.</a:t>
            </a:r>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2800" b="1">
                <a:latin typeface="Aptos Display"/>
              </a:defRPr>
            </a:pPr>
            <a:r>
              <a:t>8. Live Demonstration Flow</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607040" cy="4754880"/>
          </a:xfrm>
          <a:prstGeom prst="rect">
            <a:avLst/>
          </a:prstGeom>
          <a:noFill/>
        </p:spPr>
        <p:txBody>
          <a:bodyPr wrap="square">
            <a:spAutoFit/>
          </a:bodyPr>
          <a:lstStyle/>
          <a:p>
            <a:pPr>
              <a:spcAft>
                <a:spcPts val="1400"/>
              </a:spcAft>
              <a:defRPr sz="1900">
                <a:latin typeface="Aptos"/>
              </a:defRPr>
            </a:pPr>
            <a:r>
              <a:t>1. Show database and tables.</a:t>
            </a:r>
          </a:p>
          <a:p>
            <a:pPr>
              <a:spcAft>
                <a:spcPts val="1400"/>
              </a:spcAft>
              <a:defRPr sz="1900">
                <a:latin typeface="Aptos"/>
              </a:defRPr>
            </a:pPr>
            <a:r>
              <a:t>2. Show sample/100+ records.</a:t>
            </a:r>
          </a:p>
          <a:p>
            <a:pPr>
              <a:spcAft>
                <a:spcPts val="1400"/>
              </a:spcAft>
              <a:defRPr sz="1900">
                <a:latin typeface="Aptos"/>
              </a:defRPr>
            </a:pPr>
            <a:r>
              <a:t>3. Execute complex JOIN query.</a:t>
            </a:r>
          </a:p>
          <a:p>
            <a:pPr>
              <a:spcAft>
                <a:spcPts val="1400"/>
              </a:spcAft>
              <a:defRPr sz="1900">
                <a:latin typeface="Aptos"/>
              </a:defRPr>
            </a:pPr>
            <a:r>
              <a:t>4. Execute correlated subquery.</a:t>
            </a:r>
          </a:p>
          <a:p>
            <a:pPr>
              <a:spcAft>
                <a:spcPts val="1400"/>
              </a:spcAft>
              <a:defRPr sz="1900">
                <a:latin typeface="Aptos"/>
              </a:defRPr>
            </a:pPr>
            <a:r>
              <a:t>5. Demonstrate stored procedure.</a:t>
            </a:r>
          </a:p>
          <a:p>
            <a:pPr>
              <a:spcAft>
                <a:spcPts val="1400"/>
              </a:spcAft>
              <a:defRPr sz="1900">
                <a:latin typeface="Aptos"/>
              </a:defRPr>
            </a:pPr>
            <a:r>
              <a:t>6. Demonstrate trigger.</a:t>
            </a:r>
          </a:p>
          <a:p>
            <a:pPr>
              <a:spcAft>
                <a:spcPts val="1400"/>
              </a:spcAft>
              <a:defRPr sz="1900">
                <a:latin typeface="Aptos"/>
              </a:defRPr>
            </a:pPr>
            <a:r>
              <a:t>7. Show two views.</a:t>
            </a:r>
          </a:p>
          <a:p>
            <a:pPr>
              <a:spcAft>
                <a:spcPts val="1400"/>
              </a:spcAft>
              <a:defRPr sz="1900">
                <a:latin typeface="Aptos"/>
              </a:defRPr>
            </a:pPr>
            <a:r>
              <a:t>8. Run EXPLAIN → create index → run EXPLAIN again.</a:t>
            </a:r>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2800" b="1">
                <a:latin typeface="Aptos Display"/>
              </a:defRPr>
            </a:pPr>
            <a:r>
              <a:t>Conclusion</a:t>
            </a:r>
          </a:p>
        </p:txBody>
      </p:sp>
      <p:sp>
        <p:nvSpPr>
          <p:cNvPr id="3" name="Rectangle 2"/>
          <p:cNvSpPr/>
          <p:nvPr/>
        </p:nvSpPr>
        <p:spPr>
          <a:xfrm>
            <a:off x="640080" y="1143000"/>
            <a:ext cx="1005840" cy="73152"/>
          </a:xfrm>
          <a:prstGeom prst="rect">
            <a:avLst/>
          </a:prstGeom>
          <a:solidFill>
            <a:srgbClr val="1E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607040" cy="4754880"/>
          </a:xfrm>
          <a:prstGeom prst="rect">
            <a:avLst/>
          </a:prstGeom>
          <a:noFill/>
        </p:spPr>
        <p:txBody>
          <a:bodyPr wrap="square">
            <a:spAutoFit/>
          </a:bodyPr>
          <a:lstStyle/>
          <a:p>
            <a:pPr>
              <a:spcAft>
                <a:spcPts val="1400"/>
              </a:spcAft>
              <a:defRPr sz="2100">
                <a:latin typeface="Aptos"/>
              </a:defRPr>
            </a:pPr>
            <a:r>
              <a:t>The project converts the approved TAE 1 design into a working MySQL relational database.</a:t>
            </a:r>
          </a:p>
          <a:p>
            <a:pPr>
              <a:spcAft>
                <a:spcPts val="1400"/>
              </a:spcAft>
              <a:defRPr sz="2100">
                <a:latin typeface="Aptos"/>
              </a:defRPr>
            </a:pPr>
            <a:r>
              <a:t>It combines data integrity, advanced SQL, automation, reporting and performance optimization.</a:t>
            </a:r>
          </a:p>
          <a:p>
            <a:pPr>
              <a:spcAft>
                <a:spcPts val="1400"/>
              </a:spcAft>
              <a:defRPr sz="2100">
                <a:latin typeface="Aptos"/>
              </a:defRPr>
            </a:pPr>
            <a:r>
              <a:t>TAE 2 demonstrates both implementation and technical understanding of the database system.</a:t>
            </a:r>
          </a:p>
        </p:txBody>
      </p:sp>
      <p:sp>
        <p:nvSpPr>
          <p:cNvPr id="5" name="TextBox 4"/>
          <p:cNvSpPr txBox="1"/>
          <p:nvPr/>
        </p:nvSpPr>
        <p:spPr>
          <a:xfrm>
            <a:off x="10789920" y="6446520"/>
            <a:ext cx="731520" cy="228600"/>
          </a:xfrm>
          <a:prstGeom prst="rect">
            <a:avLst/>
          </a:prstGeom>
          <a:noFill/>
        </p:spPr>
        <p:txBody>
          <a:bodyPr wrap="none">
            <a:spAutoFit/>
          </a:bodyPr>
          <a:lstStyle/>
          <a:p>
            <a:pPr algn="ctr">
              <a:defRPr sz="1000"/>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TotalTime>
  <Words>655</Words>
  <Application>Microsoft Office PowerPoint</Application>
  <PresentationFormat>Widescreen</PresentationFormat>
  <Paragraphs>70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Arial Unicode MS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Sai Katewal</cp:lastModifiedBy>
  <cp:revision>2</cp:revision>
  <dcterms:created xsi:type="dcterms:W3CDTF">2013-01-27T09:14:16Z</dcterms:created>
  <dcterms:modified xsi:type="dcterms:W3CDTF">2026-09-23T19:49:28Z</dcterms:modified>
  <cp:category/>
</cp:coreProperties>
</file>